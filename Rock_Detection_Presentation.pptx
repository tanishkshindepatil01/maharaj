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This presentation details our MSc Data Science project on Edge-Deployable Rock Detection and Burial Status Classification, presented by Tanishk Shinde, Megh Kashilkar, Sanskar Gade, and Jitendra Suwalka.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Rocks create severe mechanical damage and downtime in commercial potato farming. Our goal is to enable real-time detection on tractor-mounted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high-accuracy models fail on edge devices due to latency. We need an end-to-end edge deployment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formulated a precise research question and three testable hypotheses around speedup, accuracy cost, and operational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methodology follows five strict stages ensuring no data leakage, fair model selection, and standardized edge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has 448 images and 706 rocks, cleanly balanced between completely exposed and half-buried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partitioned the data prior to augmentation to guarantee that no test or validation image had augmented counterparts 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expanded training data safely using 6 photometric transforms per image, avoiding geometric distortions that corrupt bounding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YOLO performs simultaneous localization and classification in a single pass, ideal for low-latency edge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candidate models were trained under strictly identical hyperparameters to prevent tuning bias from favoring any single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YOLOv8n won the predefined validation mAP50-95 criterion with 0.4288, making it our frozen checkpoint for edge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YOLOv8n delivered superior localisation precision while maintaining a compact 3.2M parameter footprint.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Exposed rocks achieved 92.8% detection, whereas half-buried rocks achieved only 34.8% due to visual soil occlusion.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Fine-tuned CLIP reached 80% accuracy on cropped chips, but was not viable for edge detection due to heavy compute demands.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edge pipeline letterboxes images to 640x640, runs inference, applies NMS, and outputs bounding boxes, labels, and count MAE.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 analysis shows soil clods cause false positives and deep burial causes false negatives, indicating 2D RGB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prepared a frozen checkpoint, 90 standardized test images, and a balanced 200-image calibration set for INT8 quantization.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exported the same YOLOv8n detector into six deployment formats spanning PyTorch, ONNX, TFLite, and NCNN across FP32, FP16, and INT8.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testbed is a Raspberry Pi 5 with 8GB RAM running headless Debian Linux, actively monitoring CPU, memory, and thermal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implemented both a 90-image canonical benchmark and a 900-image continuous endurance run to evaluate operational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TFLite INT8 achieved 22.62 FPS and 44.13 ms latency — a 9.01x speedup over PyTorch and the only format exceeding the 20 FPS real-time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minor mAP reduction from INT8 quantization is heavily outweighed by the massive 9x speedup, establishing TFLite INT8 as Pareto-optimal.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TFLite INT8 was also the most power-efficient format, running coolest at 55.1°C with only 62.8% CPU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Crucially, ONNX crashed during benchmarking and NCNN crashed during endurance testing. TFLite INT8 was the only format with 100%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TFLite INT8 is our definitive edge deployment choice. Future work will integrate 3D depth sensing and NPU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91440" cy="2011680"/>
          </a:xfrm>
          <a:prstGeom prst="rect">
            <a:avLst/>
          </a:prstGeom>
          <a:solidFill>
            <a:srgbClr val="B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2926080" cy="849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16459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</a:defRPr>
            </a:pPr>
            <a:r>
              <a:t>Edge-Deployable Rock Detection</a:t>
            </a:r>
            <a:br/>
            <a:r>
              <a:t>&amp; Burial-Status Classification</a:t>
            </a:r>
          </a:p>
          <a:p>
            <a:pPr>
              <a:spcBef>
                <a:spcPts val="800"/>
              </a:spcBef>
              <a:defRPr sz="1800">
                <a:solidFill>
                  <a:srgbClr val="B01C2E"/>
                </a:solidFill>
              </a:defRPr>
            </a:pPr>
            <a:r>
              <a:t>Real-Time Embedded Computer Vision for Precision Agriculture on Raspberry Pi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2340"/>
                </a:solidFill>
              </a:defRPr>
            </a:pPr>
            <a:r>
              <a:t>Project Team: 1. Tanishk Shinde  •  2. Megh Kashilkar  •  3. Sanskar Gade  •  4. Jitendra Suwalka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Academic Supervisor: Dr. Felipe Campelo (University of Bristol)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External Supervisors: Dr. Ahmad Al-Mallahi &amp; Jason McLaren (Dalhousie University / McCain Foods)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University of Bristol  •  Faculty of Engineering  •  Department of Engineering Mathematics  • 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02  | 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Rocks Cause Severe Operational &amp; Equipment Costs in Potato Farming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Agricultural Need &amp; Operational Impact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Commercial potato harvesting machinery suffers severe mechanical wear and blade damage from unmapped field rocks.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Manual rock picking is labour-intensive, hazardous, and causes costly harvesting bottlenecks during peak season.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Precision removal requires detecting not just rock location, but also burial status (completely exposed vs. half-buried) to apply appropriate mechanical force.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Dalhousie University and McCain Foods initiated this project to enable autonomous on-the-go vision systems directly on field machinery.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Industry Collaboration Objective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Partner: McCain Foods &amp; Dalhousie University Agricultural Engineering.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Goal: Deploy real-time object detection directly on tractor-mounted edge hardware.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Constraint: Real field environments lack cloud connectivity, demanding fully offline edge inference.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Challenge: Variable soil appearance, partial occlusions, and severe compute/power limitations on embedded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03  | 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High Model Accuracy Does Not Guarantee Real-Time Edge Feasibility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The Academic vs. Edge Deployment Gap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Standard vision research prioritises heavy GPU models (e.g. YOLOv8x, ViT) and high precision (FP32).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On-the-go tractor operations operate at ~5–10 km/h, requiring at least 15–20 FPS to guide hydraulic actuators in real time.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PyTorch models on low-cost single-board computers (Raspberry Pi 5) achieve only 2.5 FPS (~400 ms latency) — completely unacceptable for real-time control.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Quantisation (FP16, INT8) and edge-optimised runtimes (TFLite, NCNN, ONNX) are mandatory, but their accuracy–speed–stability trade-offs were previously unbenchmarked.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Key Technical Constraints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Compute: Low-power quad-core ARM Cortex-A76 processor without discrete GPU acceleration.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Memory: Peak RAM must remain well within device limits without paging or out-of-memory crashes.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Thermal: Continuous field operation without active cooling must prevent thermal CPU throttling.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Reliability: The runtime must maintain 100% stability across continuous hours without segmentation faults.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04  | 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Core Research Question &amp; Empirical Hypotheses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The Central Research Question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"How effectively can lightweight YOLO models be optimised, quantised, and deployed for real-time rock detection and burial-status classification on a low-cost edge device (Raspberry Pi 5)?"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Sub-question 1: How does model architecture selection (YOLOv8n vs YOLO11n vs YOLO11s) impact detection of challenging half-buried rocks?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Sub-question 2: What is the exact empirical trade-off between numerical precision (FP32 vs FP16 vs INT8) in terms of latency, accuracy (mAP50-95), and system stability?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Guiding Empirical Hypotheses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H1 (Speedup): Quantised edge-runtime representations (TFLite INT8 / NCNN) will yield at least a 5x latency reduction compared to PyTorch FP32 baseline.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H2 (Accuracy Cost): INT8 quantisation will incur a measurable localisation degradation (mAP50-95 drop &lt; 5%) due to 8-bit dynamic range compression.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H3 (Operational Robustness): Deployment formats will exhibit non-trivial divergence in CPU, thermal, and stability behaviours under continuous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05  |  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Rigorous Five-Stage End-to-End Project Architecture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Project Execution Workflow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1. Data Integrity &amp; Splitting: Pre-augmentation split into 313 train, 45 val, and 90 test images to prevent data leakage.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2. Controlled Augmentation: 6 safe photometric transforms expanding the training set to 2,191 images (3,563 rock instances).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3. Controlled Model Selection: Identical training of YOLOv8n, YOLO11n, and YOLO11s; selection strictly based on validation mAP50-95.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4. Six-Format Edge Export: Exporting frozen YOLOv8n into PyTorch, TorchScript, ONNX, TFLite (FP32/INT8), and NCNN (FP32/FP16).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5. Systematic Pi 5 Benchmark: Fair, letterboxed 90-image test set evaluation measuring FPS, latency, mAP, count MAE, RAM, CPU, and thermals.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Controlled Variables &amp; Principles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Zero Test-Set Leakage: Test set (90 images) never augmented and never used during model selection.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Frozen Weights: Identical neural network weights exported across all six runtime formats.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Identical Letterboxing: Standardized 640x640 input with symmetric fill value (114) for all backends.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Repeatable Protocol: 3 warmup runs followed by timed inference with hardware telemetry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06  |  DATASET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Original Field Dataset: 448 Images &amp; 706 Annotated Rocks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Dataset Composition &amp; Class Balance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448 high-resolution aerial and ground-level field images collected from real potato cultivation plots.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706 manually verified bounding box annotations across two critical operational classes: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Completely Exposed: 362 objects (51.3%) — clear surface boundary, high visual contrast against soil.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Half-Buried: 344 objects (48.7%) — partially occluded by soil clods, irregular silhouettes, lower contrast.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Near 50:50 class balance allows performance differences to be interpreted as visual difficulty rather than class imbalance.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Dataset Distribution Summary</a:t>
            </a:r>
          </a:p>
        </p:txBody>
      </p:sp>
      <p:pic>
        <p:nvPicPr>
          <p:cNvPr id="11" name="Picture 10" descr="figur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29878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3.4: Dataset summary showing 448 original images, 706 annotated rocks, and 2 balanced burial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07  |  DATASET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Pre-Augmentation Splitting Prevents Data Leakage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Partitioning Strategy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Partitioning was performed BEFORE any augmentation occurred to ensure zero duplicate variants leaked into evaluation.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Training Partition: 313 images (259 exposed, 250 half-buried) — 69.9% of dataset.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Validation Partition: 45 images (34 exposed, 28 half-buried) — 10.0% used exclusively for architecture selection.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Test Partition: 90 images (69 exposed, 66 half-buried) — 20.1% untouched held-out edge benchmark set.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Preserves absolute independence for all subsequent Raspberry Pi runtime comparisons.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Class Splits Across Partitions</a:t>
            </a:r>
          </a:p>
        </p:txBody>
      </p:sp>
      <p:pic>
        <p:nvPicPr>
          <p:cNvPr id="11" name="Picture 10" descr="figur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0098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3.2: Class-level annotation counts across Train, Val, and Test splits showing balanced proportions.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08  |  DATASET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Controlled Photometric Augmentation Expands Training to 2,191 Images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Safe Offline Augmentation Strategy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Each of the 313 training images generated 6 photometric variants (+1,878 images), expanding training set to 2,191 images.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Total training annotation instances increased from 509 to 3,563 rock objects.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Augmentations simulated real field illumination shifts: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Brightness &amp; Contrast adjustment (cloud cover vs bright direct sunlight)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Gamma correction &amp; HSV colour jitter (dry vs moist soil tones)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Gaussian noise &amp; slight blur (camera motion / vibration)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Geometric distortion (shear, extreme crop) was strictly avoided to prevent invalidating bounding box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Training Set Augmentation Expansion</a:t>
            </a:r>
          </a:p>
        </p:txBody>
      </p:sp>
      <p:pic>
        <p:nvPicPr>
          <p:cNvPr id="11" name="Picture 10" descr="figur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0651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3.3: 7x expansion of training data from 313 original images to 2,191 augmented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09  | 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Single-Stage YOLO Detects Location &amp; Burial Status Simultaneously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Why Single-Stage YOLO for Field Edge AI?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Two-stage detectors (Faster R-CNN) require separate region proposals, resulting in prohibitively high latency (&gt;800 ms on ARM).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Single-stage YOLO architectures predict bounding boxes [x, y, w, h] and class probabilities in a single forward pass.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Unified loss function optimizes bounding box regression (CIoU / DFL) alongside classification loss (BCE).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Anchor-free design in modern YOLO (v8, 11) enhances small rock detection and adapts to irregular rock shapes without manual anchor tuning.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Edge Output Tensor Representation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Input: Standardized 640x640x3 RGB image tensor.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Output: 8,400 candidate anchor predictions decoded into [x, y, w, h, p_exposed, p_buried].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Post-Processing: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Confidence Threshold: Filtering candidates with confidence &lt; 0.25.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Non-Maximum Suppression (NMS): IoU threshold 0.70 to eliminate duplicate detections.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Counting Aggregator: Outputs total detected rocks, exposed count, and half-buried count per field frame.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10  |  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Controlled Training of Lightweight YOLO Candidates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Rigorous Experimental Controls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Three candidate lightweight architectures evaluated: YOLOv8n (3.2M params), YOLO11n (2.6M params), and YOLO11s (9.4M params).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Common training setup across all models to ensure fair comparison: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Epochs: 20 epochs with early checkpoint saving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Image Resolution: 896x896 training, 1024x1024 validation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Optimizer: AdamW with Cosine learning rate scheduling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Batch Size: 32 with Automatic Mixed Precision (AMP)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Pre-trained Weights: COCO transfer learning initialization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Precision, Recall &amp; F1 Scores</a:t>
            </a:r>
          </a:p>
        </p:txBody>
      </p:sp>
      <p:pic>
        <p:nvPicPr>
          <p:cNvPr id="11" name="Picture 10" descr="figur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0630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3.5: Validation &amp; test precision, recall, and F1 comparison across YOLOv8n, YOLO11n, and YOLO11s.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11  | 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Predefined Primary Criterion: Validation mAP50–95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Avoiding Post-Hoc Metric Cherry-Picking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Architecture selection was governed by a predefined primary metric: Validation mAP50–95.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Why mAP50–95 over mAP50?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mAP50 averages IoU threshold at 0.50 only — loose localisation boundary.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mAP50–95 averages IoU from 0.50 to 0.95 in 0.05 steps, strictly punishing sloppy box localisation.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For precision agriculture, accurate boundary estimation is crucial for mechanical rock pickers to avoid striking rock edges.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The test set was strictly locked during this phase.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Candidate Validation Performance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Validation Results (45 validation images):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YOLOv8n: Precision 0.681, Recall 0.759, F1 0.718, mAP50 0.759, mAP50-95 = 0.4288 (WINNER)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YOLO11n: Precision 0.743, Recall 0.719, F1 0.731, mAP50 0.729, mAP50-95 = 0.4002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YOLO11s: Precision 0.764, Recall 0.801, F1 0.782, mAP50 0.783, mAP50-95 = 0.4107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Decision: YOLOv8n selected as the definitive detector for all edge deployment experiments.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12  | 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YOLOv8n Achieves Highest Validation Localisation Quality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Validation Evaluation Summary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YOLOv8n achieved mAP50–95 of 0.4288, outperforming YOLO11n (0.4002) by +7.1% and YOLO11s (0.4107) by +4.4%.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Although YOLO11s scored slightly higher on F1 (0.782 vs 0.718) and mAP50 (0.783 vs 0.759), its 9.4M parameter size tripled compute requirements.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YOLOv8n offered the optimal balance: top localisation precision with minimal 3.2M parameter footprint.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Checkpoint weights were frozen and passed to the multi-format edge export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mAP50 &amp; mAP50–95 Comparison</a:t>
            </a:r>
          </a:p>
        </p:txBody>
      </p:sp>
      <p:pic>
        <p:nvPicPr>
          <p:cNvPr id="11" name="Picture 10" descr="figur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00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3.6: mAP50 and mAP50–95 comparison across candidate YOLO models on validation and test partitions.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13  |  MODEL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Class Breakdown Reveals the Inherent Difficulty of Half-Buried Rocks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Class-Specific Performance Asymmetry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Evaluating YOLOv8n on the held-out 90-image test set revealed a significant disparity between classes: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Completely Exposed: 64 / 69 rocks detected correctly (92.8% operational accuracy).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Half-Buried: Only 23 / 66 rocks detected correctly (34.8% operational accuracy).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Visual Causes of Half-Buried Failures: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Smooth gradual transitions between rock surfaces and surrounding dried soil.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Partial occlusion by mud clods, crop residue, and shadow contours.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Absence of distinct continuous bounding edges.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Proves that burial-status classification is the primary computer vision bottleneck in field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Key Takeaway for Field Operations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Exposed rocks are easily detected with &gt;90% reliability, sufficient to trigger fast surface-sweep mechanisms.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Half-buried rocks require deeper soil penetration and higher actuation forces; misclassification leads to mechanical jams.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Future multi-spectral or depth sensing will be required to elevate half-buried detection rates to industrial levels.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14  |  AUXILIARY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CLIP Enhances Crop Classification but Lacks Native Localization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Zero-Shot vs Fine-Tuned Vision-Language Model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Investigated whether foundation models (OpenAI CLIP ViT-B/32) could enhance burial status discrimination.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Experimental Setup: Cropped rock image chips evaluated under zero-shot prompting vs fine-tuned linear probe.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Results on Rock Chips: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Zero-Shot CLIP: 50.4% accuracy (essentially random guess between exposed vs buried).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Fine-Tuned CLIP: 80.0% accuracy on cropped chips.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Why CLIP Was Not Deployed on Edge: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CLIP is a whole-image/crop classifier, NOT a native object detector; requires pre-extracted bounding boxes.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ViT-B/32 requires ~350 MB RAM and ~850 ms inference per crop on Raspberry Pi 5 — prohibitively slow.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Role in the Project Scope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Confirmed that foundation vision-language models have strong semantic feature representations once fine-tuned.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However, single-stage YOLO remains vastly superior for joint localisation, classification, and edge throughput.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CLIP findings documented as a valuable auxiliary diagnostic in Chapter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15  |  EDGE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End-to-End Edge Pipeline: Letterboxing to Count Telemetry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Optimized Edge Data Flow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Input Normalisation: 640x640 letterboxing with aspect ratio preservation and symmetric fill (value 114).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Tensor Pre-processing: RGB normalization [0, 1] and NCHW format conversion.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Runtime Engine Inference: Multi-backend forward execution (PyTorch, TFLite, NCNN, ONNX).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Anchor Decoding: Extracting box coordinates and multi-class confidence scores.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5. Post-Processing &amp; NMS: Threshold filtering (conf &gt;= 0.25, IoU = 0.70).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6. Agricultural Metric Telemetry: Frame latency, FPS, memory usage, total rock count, and per-class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Counting Accuracy Metric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Mean Absolute Error (MAE) on total rock counts per image: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PyTorch FP32: MAE = 0.600 rocks/image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TFLite FP32: MAE = 0.600 rocks/image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TFLite INT8: MAE = 0.633 rocks/image (+0.033 rock count delta)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NCNN FP32: MAE = 0.600 rocks/image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NCNN FP16: MAE = 0.611 rocks/image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Shows that INT8 quantization maintains excellent aggregate field rock counting fidelity.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16  |  MODEL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Qualitative Failure Modes: Soil Clods &amp; Occlusion Boundaries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Systematic Error Pattern Analysis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False Positives (Soil Clods):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Dry, crusted soil clumps frequently exhibit convex shapes and shadow gradients mimicking small rocks.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Can be mitigated by elevating confidence threshold (e.g. 0.35) at the cost of slight recall reduction.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False Negatives (Deeply Buried Rocks):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Rocks with &lt;20% surface exposure blend into surrounding tillage patterns.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Class Confusion: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Edge boundary uncertainty: Rocks with ~50% burial often oscillate between exposed and half-buried classes.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Conclusion: 2D RGB imagery alone reaches an empirical performance ceiling; 3D surface profiling is recommended for future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Visual Diagnostic Lessons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Illumination Invariance: Photometric augmentation successfully prevented false alarms under harsh direct sunlight.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Scale Sensitivity: Rocks &lt; 30 pixels across have lower detection confidence; 640x640 resolution represents optimal speed-resolution trade-off.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All visual failure cases thoroughly categorized to guide industrial implementation.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17  |  EDGE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Preparation of Frozen Checkpoint &amp; Representative Calibration Set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Standardized Edge Preparation Protocol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The selected YOLOv8n weights were permanently frozen into a master PyTorch checkpoint (`best.pt`, 6.2 MB).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90 Test Images Standardized: Letterboxed to 640x640 format, creating a fixed evaluation testbed.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INT8 Calibration Dataset Preparation: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Extracted 200 original training images containing 304 rock objects.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Strictly balanced: exactly 152 completely exposed and 152 half-buried instances.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Used to compute static scale factor S and zero-point Z for integer-only quantisation without backpropagation.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Ensured zero test data was observed during quantisation calibration.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Affine INT8 Quantisation Formula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Quantisation mapping: q = round(r / S) + Z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r: 32-bit floating point activation/weight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q: 8-bit signed integer [-128, 127]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S: positive real scaling factor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Z: integer zero-point offset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Enables ARM NEON integer dot-product SIMD instructions, unlocking massive throughput gains.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18  |  EDGE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Six Deployment Representations Span FP32, FP16 &amp; INT8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The Six Evaluated Edge Representations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PyTorch FP32 (6.2 MB): Native baseline running in PyTorch Python runtime.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TorchScript FP32 (12.3 MB): JIT-compiled PyTorch intermediate representation.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ONNX FP32 (12.2 MB): Open Neural Network Exchange format with ONNX Runtime.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TFLite FP32 (12.0 MB): TensorFlow Lite flatbuffer single-precision candidate.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5. TFLite INT8 (3.3 MB): TensorFlow Lite 8-bit post-training integer quantized model (-73% file size).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6. NCNN FP32 (12.1 MB) &amp; FP16 (6.1 MB): Tencent NCNN embedded framework for mobile ARM CPUs.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Candidate Export Summary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All models generated from identical YOLOv8n weights.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Memory footprint drops from 12.3 MB (TorchScript) down to 3.3 MB (TFLite INT8).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Enables direct empirical comparison across runtime engines (PyTorch vs TFLite vs NCNN vs ONNX) and numerical precisions (FP32 vs FP16 vs INT8).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19  |  EDGE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Hardware Testbed: Raspberry Pi 5 (8GB) in CPU-Only Mode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Raspberry Pi 5 Hardware &amp; OS Environment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SoC: Broadcom BCM2712 quad-core ARM Cortex-A76 processor @ 2.4 GHz.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Memory: 8 GB LPDDR4X SDRAM.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Power Supply: Official 27W (5.1V / 5.0A) USB-C power delivery to prevent under-voltage throttling.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Operating System: Debian GNU/Linux 13 (Trixie), 64-bit kernel.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Cooling Condition: Passive heatsink only (No Active Cooler attached) to simulate realistic enclosed tractor equipment enclosures.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Software Stack: Python 3.13.5, Ultralytics 8.4.115, ONNX Runtime 1.28.0, OpenCV 5.0.0, NumPy 2.5.1, psutil 7.2.2.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Experimental Isolation Protocols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No GUI Desktop: Background services minimized to eliminate operating system jitter.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Single Batch Inference: Batch size = 1 strictly enforced (real-time stream simulation).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Hardware Telemetry: psutil and vcgencmd polled every 10 ms for CPU load, RSS RAM, and SoC core temperature.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20  |  EDGE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Dual Testing Protocol: Fixed Benchmark &amp; Continuous Endurance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Two-Phase Evaluation Protocol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Phase 1: Canonical Fixed Benchmark (90 Images)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3 warmup inferences to stabilize cache and JIT compilation.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90 timed sequential inferences over the held-out test partition.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Records per-frame latency, median FPS, CPU %, peak RAM, mAP50, mAP50-95, and Count MAE.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Phase 2: Continuous Operational Endurance Test (10 Passes)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900 consecutive inferences (10 passes of the 90-image test set).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Evaluates memory leak accumulation, thermal throttling thresholds, and runtime crash vulnerability.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Why Dual Testing Was Essential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 model can pass a short 90-image benchmark but crash after 20 minutes in field conditions.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Exposes hidden edge runtime bugs (memory leaks, threading lockups, segmentation faults).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Ensures the selected model is truly robust for continuous tractor deployments.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21  | 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TFLite INT8 Delivers 22.62 FPS — 9.01x Speedup over PyTorch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Canonical Runtime Latency &amp; Throughput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PyTorch FP32 (Baseline): 397.48 ms latency | 2.52 FPS — unusable for real-time control.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TFLite FP32: 143.70 ms latency | 6.95 FPS (2.77x speedup over PyTorch).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NCNN FP32: 75.09 ms latency | 13.26 FPS (5.29x speedup).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NCNN FP16: 72.31 ms latency | 13.82 FPS (5.49x speedup).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TFLite INT8 (WINNER): 44.13 ms latency | 22.62 FPS (9.01x speedup!).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TFLite INT8 is the ONLY representation that exceeds the 20 FPS threshold required for real-time potato harvesting.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Throughput &amp; Latency Comparison</a:t>
            </a:r>
          </a:p>
        </p:txBody>
      </p:sp>
      <p:pic>
        <p:nvPicPr>
          <p:cNvPr id="11" name="Picture 10" descr="figur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2009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4.3: Median throughput (FPS) and mean latency (ms) across completed deployment formats on Pi 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22  | 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Throughput vs Accuracy: A Quantifiable, Acceptable Trade-Off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Localisation Quality vs Inference Speed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Full-Precision Quality Retention: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PyTorch FP32: mAP50 = 0.548, mAP50-95 = 0.275, F1 = 0.622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TFLite FP32: mAP50 = 0.535, mAP50-95 = 0.270, F1 = 0.599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NCNN FP16: mAP50 = 0.537, mAP50-95 = 0.270, F1 = 0.600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INT8 Quantisation Impact (TFLite INT8):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mAP50: 0.503 (-0.045 vs PyTorch baseline)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mAP50-95: 0.234 (-0.041 vs PyTorch baseline)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F1 Score: 0.594 (-0.028 vs PyTorch baseline)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Trade-Off Assessment: A 14.9% decrease in mAP50-95 buys an 800% increase in frame rate (2.5 -&gt; 22.6 FPS). Highly favorable for field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Speed vs Accuracy Pareto Chart</a:t>
            </a:r>
          </a:p>
        </p:txBody>
      </p:sp>
      <p:pic>
        <p:nvPicPr>
          <p:cNvPr id="11" name="Picture 10" descr="figure_deployment_speed_accuracy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4700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4.2: Median throughput (FPS) plotted against mAP50-95 showing TFLite INT8 as the clear Pareto-optimal choice.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23  | 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System Resources: INT8 Optimizes CPU, Memory &amp; Thermal Load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Hardware Resource Utilization on Pi 5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Peak Process RAM: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TFLite INT8 had the lowest memory footprint: 824.2 MB (vs 868.3 MB for TFLite FP32).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Fits easily within low-cost 2GB or 4GB Raspberry Pi variants.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CPU Core Utilization: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TFLite INT8: 62.8% average CPU load across 4 cores.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NCNN FP16: 87.1% CPU load (heavier ARM thread saturation).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Thermal Dissipation (Short-run Max):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TFLite INT8: 55.10 °C (Coolest operating temperature).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NCNN FP32: 56.75 °C | NCNN FP16: 59.50 °C | PyTorch: 61.70 °C | TFLite FP32: 66.10 °C.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INT8's integer SIMD operations generate significantly less heat, preventing thermal throttling.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Resource &amp; Thermal Comparison</a:t>
            </a:r>
          </a:p>
        </p:txBody>
      </p:sp>
      <p:pic>
        <p:nvPicPr>
          <p:cNvPr id="11" name="Picture 10" descr="figur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0630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77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Figure 4.5: CPU load, peak RAM, and short-run temperature across completed formats.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24  |  OPERATIONAL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Stability Testing Exposes Critical Runtime Failures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Negative Results &amp; Runtime Crashes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Export Success Does NOT Equal Deployment Stability!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ONNX FP32 Fatal Failure: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Successfully exported from Ultralytics without errors.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Completely crashed during benchmark aggregation due to an internal ONNX Runtime memory management fault on ARM64.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NCNN Continuous Endurance Failure: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Successfully passed the 90-image benchmark at 13.8 FPS.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However, crashed during the continuous 10-pass endurance run due to thread contention and memory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Robustness &amp; Deployment Findings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TFLite INT8 Robustness Winner: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The ONLY deployment format that completed 100% of both fixed benchmark and continuous endurance runs without a single crash.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System-Level Validation Necessity: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Demonstrates the indispensable need to test models under sustained workload stress on target edge hardware.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Reporting Integrity: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Transparently disclosing runtime crashes prevents costly real-world field deployment failures.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1C2E"/>
                </a:solidFill>
              </a:defRPr>
            </a:pPr>
            <a:r>
              <a:t>25  |  CONCLUSIONS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340"/>
                </a:solidFill>
              </a:defRPr>
            </a:pPr>
            <a:r>
              <a:t>Final Selection: TFLite INT8 Validated; Future Roadmap Defined</a:t>
            </a:r>
          </a:p>
        </p:txBody>
      </p:sp>
      <p:pic>
        <p:nvPicPr>
          <p:cNvPr id="5" name="Picture 4" descr="logo_uo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645920" cy="477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University of Bristol  •  MSc Data Science Dissertation Project  •  McCain Foods &amp; Dalhousie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1C2E"/>
                </a:solidFill>
              </a:defRPr>
            </a:pPr>
            <a:r>
              <a:t>Final Deployment Selection: TFLite INT8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Selection Justification across All Four Criteria: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Speed: 22.62 FPS (9.01x faster than PyTorch, exceeding 20 FPS threshold).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Localisation: Retains 0.234 mAP50-95 and 0.633 count MAE.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Efficiency: Lowest peak RAM (824 MB) and lowest temperature (55.1 °C).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Reliability: 100% stability across all continuous endurance workloads.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Hypothesis Assessment: All three hypotheses (H1 Speedup, H2 Accuracy Cost, H3 Stability Divergence) fully supported.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</a:defRPr>
            </a:pPr>
            <a:r>
              <a:t>Prioritised Future Roadmap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Multi-Spectral &amp; 3D Depth Sensing: Integrate stereo vision or LiDAR to elevate half-buried detection accuracy above 35%.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Live Tractor Camera Stream: Build GStreamer / Video4Linux2 real-time camera ingestion pipeline with GPS geo-tagging.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Hardware Accelerator Offload: Deploy on Raspberry Pi AI Kit (Hailo-8L NPU, 13 TOPS) for sub-10 ms inference.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4. Closed-Loop Actuator Integration: Interface with hydraulic rock-picker control PLC via CAN 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